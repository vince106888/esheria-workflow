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70448" y="25603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73952" y="25603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77456" y="25603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25603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84464" y="25603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70448" y="80467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80467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77456" y="80467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80467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84464" y="80467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70448" y="135331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135331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77456" y="135331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135331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135331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70448" y="190195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3952" y="190195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77456" y="190195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190195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4464" y="190195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0448" y="245059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3952" y="245059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77456" y="245059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245059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84464" y="245059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70448" y="299923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73952" y="299923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77456" y="299923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299923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4464" y="299923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0448" y="354787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73952" y="354787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77456" y="354787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0" y="354787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84464" y="354787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70448" y="409651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73952" y="409651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77456" y="409651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409651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84464" y="409651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70448" y="464515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73952" y="464515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77456" y="464515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80960" y="464515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84464" y="4645152"/>
            <a:ext cx="64008" cy="64008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7090F"/>
          </a:solidFill>
          <a:ln w="12700">
            <a:solidFill>
              <a:srgbClr val="07090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9144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ESHERIA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256032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WORKFLOW OS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406640" y="146304"/>
            <a:ext cx="1508760" cy="32918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14630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56032" y="8412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 ·  CEO STRATEGIC REVIEW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56032" y="1152144"/>
            <a:ext cx="5230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Fragmented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Capabilities to a</a:t>
            </a:r>
            <a:endParaRPr lang="en-US" sz="3400" dirty="0"/>
          </a:p>
        </p:txBody>
      </p:sp>
      <p:sp>
        <p:nvSpPr>
          <p:cNvPr id="56" name="Text 54"/>
          <p:cNvSpPr/>
          <p:nvPr/>
        </p:nvSpPr>
        <p:spPr>
          <a:xfrm>
            <a:off x="256032" y="2487168"/>
            <a:ext cx="5230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Workflow OS.</a:t>
            </a:r>
            <a:endParaRPr lang="en-US" sz="3400" dirty="0"/>
          </a:p>
        </p:txBody>
      </p:sp>
      <p:sp>
        <p:nvSpPr>
          <p:cNvPr id="57" name="Shape 55"/>
          <p:cNvSpPr/>
          <p:nvPr/>
        </p:nvSpPr>
        <p:spPr>
          <a:xfrm>
            <a:off x="256032" y="3310128"/>
            <a:ext cx="1828800" cy="36576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032" y="3438144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case for building the orchestration layer above Esheria's five existing services.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56032" y="4041648"/>
            <a:ext cx="5230368" cy="749808"/>
          </a:xfrm>
          <a:prstGeom prst="rect">
            <a:avLst/>
          </a:prstGeom>
          <a:solidFill>
            <a:srgbClr val="07090F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6032" y="4041648"/>
            <a:ext cx="45720" cy="749808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11480" y="4315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Vincent Nyamao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2926080" y="4169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Review  ·  March 2026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92608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Package: Proposal · Blueprint · Diagram Pack · Design Appendix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870448" y="822960"/>
            <a:ext cx="1481328" cy="1755648"/>
          </a:xfrm>
          <a:prstGeom prst="rect">
            <a:avLst/>
          </a:prstGeom>
          <a:solidFill>
            <a:srgbClr val="0D1628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870448" y="822960"/>
            <a:ext cx="1481328" cy="4572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70448" y="950976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200" dirty="0"/>
          </a:p>
        </p:txBody>
      </p:sp>
      <p:sp>
        <p:nvSpPr>
          <p:cNvPr id="68" name="Text 66"/>
          <p:cNvSpPr/>
          <p:nvPr/>
        </p:nvSpPr>
        <p:spPr>
          <a:xfrm>
            <a:off x="5943600" y="17190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943600" y="219456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5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Connected, not rebuilt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516368" y="822960"/>
            <a:ext cx="1481328" cy="1755648"/>
          </a:xfrm>
          <a:prstGeom prst="rect">
            <a:avLst/>
          </a:prstGeom>
          <a:solidFill>
            <a:srgbClr val="0D1628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516368" y="822960"/>
            <a:ext cx="1481328" cy="4572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16368" y="950976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200" dirty="0"/>
          </a:p>
        </p:txBody>
      </p:sp>
      <p:sp>
        <p:nvSpPr>
          <p:cNvPr id="73" name="Text 71"/>
          <p:cNvSpPr/>
          <p:nvPr/>
        </p:nvSpPr>
        <p:spPr>
          <a:xfrm>
            <a:off x="7589520" y="17190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589520" y="219456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5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in Phase 1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5870448" y="2816352"/>
            <a:ext cx="1481328" cy="1755648"/>
          </a:xfrm>
          <a:prstGeom prst="rect">
            <a:avLst/>
          </a:prstGeom>
          <a:solidFill>
            <a:srgbClr val="0D1628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5870448" y="2816352"/>
            <a:ext cx="1481328" cy="4572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70448" y="2944368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18+</a:t>
            </a:r>
            <a:endParaRPr lang="en-US" sz="4200" dirty="0"/>
          </a:p>
        </p:txBody>
      </p:sp>
      <p:sp>
        <p:nvSpPr>
          <p:cNvPr id="78" name="Text 76"/>
          <p:cNvSpPr/>
          <p:nvPr/>
        </p:nvSpPr>
        <p:spPr>
          <a:xfrm>
            <a:off x="5943600" y="3712464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5943600" y="418795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5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to B2B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516368" y="2816352"/>
            <a:ext cx="1481328" cy="1755648"/>
          </a:xfrm>
          <a:prstGeom prst="rect">
            <a:avLst/>
          </a:prstGeom>
          <a:solidFill>
            <a:srgbClr val="0D1628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7516368" y="2816352"/>
            <a:ext cx="1481328" cy="4572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516368" y="2944368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200" dirty="0"/>
          </a:p>
        </p:txBody>
      </p:sp>
      <p:sp>
        <p:nvSpPr>
          <p:cNvPr id="83" name="Text 81"/>
          <p:cNvSpPr/>
          <p:nvPr/>
        </p:nvSpPr>
        <p:spPr>
          <a:xfrm>
            <a:off x="7589520" y="3712464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589520" y="418795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5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whole thesis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920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</a:t>
            </a:r>
            <a:endParaRPr 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3063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slides · ~20 minutes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88920" y="256032"/>
            <a:ext cx="2971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88920" y="256032"/>
            <a:ext cx="54864" cy="1353312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16936" y="384048"/>
            <a:ext cx="402336" cy="329184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6936" y="38404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0712" y="38404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Strategic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16936" y="84124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five capabilities isn't a platform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0" y="256032"/>
            <a:ext cx="2971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256032"/>
            <a:ext cx="54864" cy="1353312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384048"/>
            <a:ext cx="402336" cy="329184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1616" y="38404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38404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Platform Thesis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71616" y="84124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orchestration layer unlocks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88920" y="1792224"/>
            <a:ext cx="2971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88920" y="1792224"/>
            <a:ext cx="54864" cy="1353312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16936" y="1920240"/>
            <a:ext cx="402336" cy="329184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16936" y="192024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10712" y="192024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Architecture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16936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zero rebuilds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0" y="1792224"/>
            <a:ext cx="2971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792224"/>
            <a:ext cx="54864" cy="1353312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1616" y="1920240"/>
            <a:ext cx="402336" cy="329184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192024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65392" y="192024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MVP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71616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intake end-to-end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88920" y="3328416"/>
            <a:ext cx="2971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88920" y="3328416"/>
            <a:ext cx="54864" cy="1353312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16936" y="3456432"/>
            <a:ext cx="402336" cy="329184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16936" y="34564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10712" y="345643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Metrics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16936" y="39136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the shift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0" y="3328416"/>
            <a:ext cx="2971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43600" y="3328416"/>
            <a:ext cx="54864" cy="1353312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71616" y="3456432"/>
            <a:ext cx="402336" cy="329184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34564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65392" y="345643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The Ask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71616" y="39136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18–27 weeks to pilot. Four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SECTION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Strategic Problem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capabilities. No shared state. No platform.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1572768" cy="246888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0664" y="155448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5506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8600" y="223113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28600" y="28163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esheria-ocr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84632" y="3127248"/>
            <a:ext cx="1060704" cy="256032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" y="3127248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883664" y="2441448"/>
            <a:ext cx="256032" cy="256032"/>
          </a:xfrm>
          <a:prstGeom prst="ellipse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83664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965960" y="1389888"/>
            <a:ext cx="1572768" cy="246888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478024" y="155448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655064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65960" y="223113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965960" y="28163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contract-engine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2221992" y="3127248"/>
            <a:ext cx="1060704" cy="256032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221992" y="3127248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3621024" y="2441448"/>
            <a:ext cx="256032" cy="256032"/>
          </a:xfrm>
          <a:prstGeom prst="ellipse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21024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703320" y="1389888"/>
            <a:ext cx="1572768" cy="246888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215384" y="155448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655064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703320" y="223113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3703320" y="28163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esheria-ai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3959352" y="3127248"/>
            <a:ext cx="1060704" cy="256032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959352" y="3127248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5358384" y="2441448"/>
            <a:ext cx="256032" cy="256032"/>
          </a:xfrm>
          <a:prstGeom prst="ellipse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358384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440680" y="1389888"/>
            <a:ext cx="1572768" cy="246888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952744" y="155448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655064"/>
            <a:ext cx="347472" cy="34747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440680" y="223113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5440680" y="28163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lexdraft</a:t>
            </a:r>
            <a:endParaRPr lang="en-US" sz="750" dirty="0"/>
          </a:p>
        </p:txBody>
      </p:sp>
      <p:sp>
        <p:nvSpPr>
          <p:cNvPr id="39" name="Shape 33"/>
          <p:cNvSpPr/>
          <p:nvPr/>
        </p:nvSpPr>
        <p:spPr>
          <a:xfrm>
            <a:off x="5696712" y="3127248"/>
            <a:ext cx="1060704" cy="256032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696712" y="3127248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750" dirty="0"/>
          </a:p>
        </p:txBody>
      </p:sp>
      <p:sp>
        <p:nvSpPr>
          <p:cNvPr id="41" name="Shape 35"/>
          <p:cNvSpPr/>
          <p:nvPr/>
        </p:nvSpPr>
        <p:spPr>
          <a:xfrm>
            <a:off x="7095744" y="2441448"/>
            <a:ext cx="256032" cy="256032"/>
          </a:xfrm>
          <a:prstGeom prst="ellipse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095744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7178040" y="1389888"/>
            <a:ext cx="1572768" cy="246888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7690104" y="155448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1655064"/>
            <a:ext cx="347472" cy="34747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7178040" y="223113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7178040" y="28163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esheria-analytics</a:t>
            </a:r>
            <a:endParaRPr lang="en-US" sz="750" dirty="0"/>
          </a:p>
        </p:txBody>
      </p:sp>
      <p:sp>
        <p:nvSpPr>
          <p:cNvPr id="48" name="Shape 41"/>
          <p:cNvSpPr/>
          <p:nvPr/>
        </p:nvSpPr>
        <p:spPr>
          <a:xfrm>
            <a:off x="7434072" y="3127248"/>
            <a:ext cx="1060704" cy="256032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434072" y="3127248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750" dirty="0"/>
          </a:p>
        </p:txBody>
      </p:sp>
      <p:sp>
        <p:nvSpPr>
          <p:cNvPr id="50" name="Shape 43"/>
          <p:cNvSpPr/>
          <p:nvPr/>
        </p:nvSpPr>
        <p:spPr>
          <a:xfrm>
            <a:off x="228600" y="4041648"/>
            <a:ext cx="8686800" cy="749808"/>
          </a:xfrm>
          <a:prstGeom prst="rect">
            <a:avLst/>
          </a:prstGeom>
          <a:solidFill>
            <a:srgbClr val="1A0A0A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228600" y="4041648"/>
            <a:ext cx="54864" cy="749808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178808"/>
            <a:ext cx="347472" cy="347472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841248" y="4096512"/>
            <a:ext cx="7991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data model. No workflow state. No approval chains. No audit trails. Five products, not one platform.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5156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2801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THE ENTERPRISE BUYER REALITY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" y="3474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legal teams actually buy at scale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1170432"/>
            <a:ext cx="3931920" cy="347472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ESHERIA OFFERS TODAY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10912" y="1170432"/>
            <a:ext cx="3931920" cy="347472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10912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ENTERPRISE TEAMS REQUIRE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33088" y="1170432"/>
            <a:ext cx="877824" cy="347472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33088" y="1170432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" y="1536192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without shared workflow state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10912" y="1536192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4064" y="1627632"/>
            <a:ext cx="219456" cy="219456"/>
          </a:xfrm>
          <a:prstGeom prst="ellipse">
            <a:avLst/>
          </a:prstGeom>
          <a:solidFill>
            <a:srgbClr val="E8F7F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84064" y="1627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949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auditable workflows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33088" y="1536192"/>
            <a:ext cx="877824" cy="402336"/>
          </a:xfrm>
          <a:prstGeom prst="rect">
            <a:avLst/>
          </a:prstGeom>
          <a:solidFill>
            <a:srgbClr val="FDF6E3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33088" y="1536192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01168" y="2048256"/>
            <a:ext cx="3931920" cy="402336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0665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model varies by product surface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10912" y="2048256"/>
            <a:ext cx="3931920" cy="402336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84064" y="2139696"/>
            <a:ext cx="219456" cy="219456"/>
          </a:xfrm>
          <a:prstGeom prst="ellipse">
            <a:avLst/>
          </a:prstGeom>
          <a:solidFill>
            <a:srgbClr val="E8F7F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4064" y="21396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94960" y="20665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&amp; org controls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33088" y="2048256"/>
            <a:ext cx="877824" cy="402336"/>
          </a:xfrm>
          <a:prstGeom prst="rect">
            <a:avLst/>
          </a:prstGeom>
          <a:solidFill>
            <a:srgbClr val="FDF6E3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33088" y="2048256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01168" y="256032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integrations systematised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10912" y="256032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84064" y="2651760"/>
            <a:ext cx="219456" cy="219456"/>
          </a:xfrm>
          <a:prstGeom prst="ellipse">
            <a:avLst/>
          </a:prstGeom>
          <a:solidFill>
            <a:srgbClr val="E8F7F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2651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94960" y="2578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DMS, CRM, ERP integrations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33088" y="2560320"/>
            <a:ext cx="877824" cy="402336"/>
          </a:xfrm>
          <a:prstGeom prst="rect">
            <a:avLst/>
          </a:prstGeom>
          <a:solidFill>
            <a:srgbClr val="FDF6E3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33088" y="2560320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01168" y="3072384"/>
            <a:ext cx="3931920" cy="402336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090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chains as primitives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10912" y="3072384"/>
            <a:ext cx="3931920" cy="402336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84064" y="3163824"/>
            <a:ext cx="219456" cy="219456"/>
          </a:xfrm>
          <a:prstGeom prst="ellipse">
            <a:avLst/>
          </a:prstGeom>
          <a:solidFill>
            <a:srgbClr val="E8F7F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84064" y="3163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94960" y="3090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chains &amp; escalation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33088" y="3072384"/>
            <a:ext cx="877824" cy="402336"/>
          </a:xfrm>
          <a:prstGeom prst="rect">
            <a:avLst/>
          </a:prstGeom>
          <a:solidFill>
            <a:srgbClr val="FDF6E3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33088" y="307238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01168" y="3584448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6027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internal to Esheria only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10912" y="3584448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84064" y="3675888"/>
            <a:ext cx="219456" cy="219456"/>
          </a:xfrm>
          <a:prstGeom prst="ellipse">
            <a:avLst/>
          </a:prstGeom>
          <a:solidFill>
            <a:srgbClr val="E8F7F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84064" y="3675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394960" y="36027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Institution-facing analytics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33088" y="3584448"/>
            <a:ext cx="877824" cy="402336"/>
          </a:xfrm>
          <a:prstGeom prst="rect">
            <a:avLst/>
          </a:prstGeom>
          <a:solidFill>
            <a:srgbClr val="FDF6E3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33088" y="3584448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01168" y="4096512"/>
            <a:ext cx="3931920" cy="402336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Output-only, no citation linkage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10912" y="4096512"/>
            <a:ext cx="3931920" cy="402336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84064" y="4187952"/>
            <a:ext cx="219456" cy="219456"/>
          </a:xfrm>
          <a:prstGeom prst="ellipse">
            <a:avLst/>
          </a:prstGeom>
          <a:solidFill>
            <a:srgbClr val="E8F7F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84064" y="4187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9496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AI outputs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33088" y="4096512"/>
            <a:ext cx="877824" cy="402336"/>
          </a:xfrm>
          <a:prstGeom prst="rect">
            <a:avLst/>
          </a:prstGeom>
          <a:solidFill>
            <a:srgbClr val="FDF6E3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33088" y="4096512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201168" y="4608576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6268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first-class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010912" y="4608576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84064" y="4700016"/>
            <a:ext cx="219456" cy="219456"/>
          </a:xfrm>
          <a:prstGeom prst="ellipse">
            <a:avLst/>
          </a:prstGeom>
          <a:solidFill>
            <a:srgbClr val="E8F7F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84064" y="47000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394960" y="46268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 trails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133088" y="4608576"/>
            <a:ext cx="877824" cy="402336"/>
          </a:xfrm>
          <a:prstGeom prst="rect">
            <a:avLst/>
          </a:prstGeom>
          <a:solidFill>
            <a:srgbClr val="FDF6E3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33088" y="4608576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SECTION 02  ·  PLATFORM THESIS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Esheria as the Legal Workflow Operating System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023360" cy="123444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98448"/>
            <a:ext cx="54864" cy="1234440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isolated AI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capabilities with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shared layer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51960" y="162763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846320" y="1298448"/>
            <a:ext cx="4023360" cy="1234440"/>
          </a:xfrm>
          <a:prstGeom prst="rect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6276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programmable legal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platform —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OS for legal work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2011680" cy="1280160"/>
          </a:xfrm>
          <a:prstGeom prst="rect">
            <a:avLst/>
          </a:prstGeom>
          <a:solidFill>
            <a:srgbClr val="0D1628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43200"/>
            <a:ext cx="2011680" cy="36576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834640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47472" y="321868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Depth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7472" y="3511296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 no feature creates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450592" y="2743200"/>
            <a:ext cx="2011680" cy="1280160"/>
          </a:xfrm>
          <a:prstGeom prst="rect">
            <a:avLst/>
          </a:prstGeom>
          <a:solidFill>
            <a:srgbClr val="0D1628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450592" y="2743200"/>
            <a:ext cx="2011680" cy="36576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2834640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523744" y="321868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Lock-in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523744" y="3511296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objects, become irreplaceable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4626864" y="2743200"/>
            <a:ext cx="2011680" cy="1280160"/>
          </a:xfrm>
          <a:prstGeom prst="rect">
            <a:avLst/>
          </a:prstGeom>
          <a:solidFill>
            <a:srgbClr val="0D1628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626864" y="2743200"/>
            <a:ext cx="2011680" cy="36576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2834640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00016" y="321868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Memory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700016" y="3511296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compound into institutional assets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803136" y="2743200"/>
            <a:ext cx="2011680" cy="1280160"/>
          </a:xfrm>
          <a:prstGeom prst="rect">
            <a:avLst/>
          </a:prstGeom>
          <a:solidFill>
            <a:srgbClr val="0D1628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803136" y="2743200"/>
            <a:ext cx="2011680" cy="36576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2834640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76288" y="321868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Narrative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876288" y="3511296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fundable. More expandable.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188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SECTION 03  ·  PLATFORM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" y="3383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layers. Existing repos unchanged.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1078992"/>
            <a:ext cx="8778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78992"/>
            <a:ext cx="73152" cy="676656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234440"/>
            <a:ext cx="402336" cy="36576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344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11521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4264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Workspace · Operator Console · Public Surface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1847088"/>
            <a:ext cx="8778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847088"/>
            <a:ext cx="73152" cy="676656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002536"/>
            <a:ext cx="402336" cy="36576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00253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1920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1945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 · State Machine · Approval Router · Audit Log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2615184"/>
            <a:ext cx="8778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615184"/>
            <a:ext cx="73152" cy="676656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770632"/>
            <a:ext cx="402336" cy="36576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7706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" y="26883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MODEL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296265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Entities: Org · Matter · Document · Clause · Risk · WorkflowRun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3291840"/>
            <a:ext cx="8778240" cy="36576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273552"/>
            <a:ext cx="45720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ABOVE  ·  DATA PLANE BELOW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82880" y="3383280"/>
            <a:ext cx="8778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3383280"/>
            <a:ext cx="73152" cy="67665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3538728"/>
            <a:ext cx="402336" cy="3657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53872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" y="3456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" y="37307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· Contract · Research · Drafting · Analytics Connectors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" y="4151376"/>
            <a:ext cx="8778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4151376"/>
            <a:ext cx="73152" cy="676656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4306824"/>
            <a:ext cx="402336" cy="36576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30682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REPOS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" y="44988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esheria-ocr · contract-engine · esheria-ai · lexdraft · esheria-analytics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4864608"/>
            <a:ext cx="8778240" cy="219456"/>
          </a:xfrm>
          <a:prstGeom prst="rect">
            <a:avLst/>
          </a:prstGeom>
          <a:solidFill>
            <a:srgbClr val="E8F7F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86460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 Existing repos plug into L1 as-is. The orchestration layer is built above them. Zero rebuilds.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CANONICAL OBJECT MODEL — 9 ENTITIES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shared data contract. Locked in Phase 1. Never mutated within a major version.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2798064" cy="117043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987552"/>
            <a:ext cx="2798064" cy="54864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115568"/>
            <a:ext cx="347472" cy="27432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155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1115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1499616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org_id · name · sector · policy_set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63824" y="987552"/>
            <a:ext cx="2798064" cy="117043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63824" y="987552"/>
            <a:ext cx="2798064" cy="54864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55264" y="1115568"/>
            <a:ext cx="347472" cy="27432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11155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75888" y="1115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55264" y="1499616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· org_id · role · permissions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26480" y="987552"/>
            <a:ext cx="2798064" cy="117043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987552"/>
            <a:ext cx="2798064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115568"/>
            <a:ext cx="347472" cy="27432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1155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38544" y="1115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499616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matter_id · org_id · type · status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1168" y="2304288"/>
            <a:ext cx="2798064" cy="117043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2304288"/>
            <a:ext cx="2798064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2432304"/>
            <a:ext cx="347472" cy="27432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243230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" y="24323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" y="2816352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doc_id · matter_id · ocr_status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63824" y="2304288"/>
            <a:ext cx="2798064" cy="117043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3824" y="2304288"/>
            <a:ext cx="2798064" cy="54864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55264" y="2432304"/>
            <a:ext cx="347472" cy="27432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55264" y="243230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75888" y="24323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55264" y="2816352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clause_id · doc_id · type · risk_ids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2304288"/>
            <a:ext cx="2798064" cy="117043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2304288"/>
            <a:ext cx="2798064" cy="54864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2432304"/>
            <a:ext cx="347472" cy="27432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43230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38544" y="24323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2816352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risk_id · clause_id · severity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01168" y="3621024"/>
            <a:ext cx="2798064" cy="117043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1168" y="3621024"/>
            <a:ext cx="2798064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" y="3749040"/>
            <a:ext cx="347472" cy="2743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" y="37490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3232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WorkflowRun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92608" y="413308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run_id · matter_id · step · status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163824" y="3621024"/>
            <a:ext cx="2798064" cy="117043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63824" y="3621024"/>
            <a:ext cx="2798064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55264" y="3749040"/>
            <a:ext cx="347472" cy="2743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5264" y="37490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75888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255264" y="413308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action_id · run_id · input · output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26480" y="3621024"/>
            <a:ext cx="2798064" cy="117043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26480" y="3621024"/>
            <a:ext cx="2798064" cy="54864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17920" y="3749040"/>
            <a:ext cx="347472" cy="27432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37490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638544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17920" y="413308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review_id · doc_id · decision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SECTION 04  ·  THE MVP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" y="3200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Intake &amp; Review  —  10 steps. All 5 services. One audit trail.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3159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05840"/>
            <a:ext cx="457200" cy="694944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00584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060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13350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contract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34640" y="117043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Document + WorkflowRun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" y="1810512"/>
            <a:ext cx="43159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810512"/>
            <a:ext cx="457200" cy="694944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810512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1865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Op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" y="21396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validate + classify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34640" y="197510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DocumentVersion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82880" y="2615184"/>
            <a:ext cx="43159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2615184"/>
            <a:ext cx="457200" cy="694944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61518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Op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" y="29443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clauses &amp; obligations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34640" y="277977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Clause[]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82880" y="3419856"/>
            <a:ext cx="43159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419856"/>
            <a:ext cx="457200" cy="69494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341985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" y="3749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policies &amp; regulations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834640" y="358444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Risk[]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82880" y="4224528"/>
            <a:ext cx="43159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24528"/>
            <a:ext cx="457200" cy="69494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4224528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" y="4553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precedents + citations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834640" y="438912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Citation[]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81728" y="1005840"/>
            <a:ext cx="43159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1728" y="1005840"/>
            <a:ext cx="457200" cy="694944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100584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12080" y="1060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Op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0" y="13350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fallback language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33488" y="117043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Draft suggestions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81728" y="1810512"/>
            <a:ext cx="43159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81728" y="1810512"/>
            <a:ext cx="457200" cy="694944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1810512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12080" y="1865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12080" y="21396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briefing + score risk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33488" y="197510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Review record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681728" y="2615184"/>
            <a:ext cx="43159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81728" y="2615184"/>
            <a:ext cx="457200" cy="694944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261518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12080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212080" y="29443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+ annotate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33488" y="277977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Decision on Review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81728" y="3419856"/>
            <a:ext cx="43159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81728" y="3419856"/>
            <a:ext cx="457200" cy="69494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81728" y="341985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21208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Op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212080" y="3749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escalate + SLA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333488" y="358444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Approval + SLA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681728" y="4224528"/>
            <a:ext cx="43159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81728" y="4224528"/>
            <a:ext cx="457200" cy="694944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81728" y="4224528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21208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Op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212080" y="4553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events + update dashboards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333488" y="438912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Analytics updated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4630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SECTION 05  ·  DECISION METRICS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metrics. Before vs After.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0" y="1078992"/>
            <a:ext cx="3017520" cy="347472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078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87568" y="1078992"/>
            <a:ext cx="3246120" cy="347472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87568" y="10789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508760"/>
            <a:ext cx="2286000" cy="786384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709928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" y="165506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60320" y="1508760"/>
            <a:ext cx="3017520" cy="786384"/>
          </a:xfrm>
          <a:prstGeom prst="rect">
            <a:avLst/>
          </a:prstGeom>
          <a:solidFill>
            <a:srgbClr val="1A0A0A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06624" y="15819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Per-service, per API call — no end-to-end measurement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87568" y="1508760"/>
            <a:ext cx="3246120" cy="786384"/>
          </a:xfrm>
          <a:prstGeom prst="rect">
            <a:avLst/>
          </a:prstGeom>
          <a:solidFill>
            <a:srgbClr val="071A1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33872" y="1581912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per tenant — matters closed, SLA rate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82880" y="2386584"/>
            <a:ext cx="2286000" cy="786384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587752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8368" y="253288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560320" y="2386584"/>
            <a:ext cx="3017520" cy="786384"/>
          </a:xfrm>
          <a:prstGeom prst="rect">
            <a:avLst/>
          </a:prstGeom>
          <a:solidFill>
            <a:srgbClr val="1A0A0A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706624" y="245973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checks, no audit chain between steps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687568" y="2386584"/>
            <a:ext cx="3246120" cy="786384"/>
          </a:xfrm>
          <a:prstGeom prst="rect">
            <a:avLst/>
          </a:prstGeom>
          <a:solidFill>
            <a:srgbClr val="071A1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33872" y="2459736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linked to clause → citation → decision → timestamp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182880" y="3264408"/>
            <a:ext cx="2286000" cy="786384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465576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" y="3410712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2560320" y="3264408"/>
            <a:ext cx="3017520" cy="786384"/>
          </a:xfrm>
          <a:prstGeom prst="rect">
            <a:avLst/>
          </a:prstGeom>
          <a:solidFill>
            <a:srgbClr val="1A0A0A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706624" y="3337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Feature-by-feature value, no compounding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687568" y="3264408"/>
            <a:ext cx="3246120" cy="786384"/>
          </a:xfrm>
          <a:prstGeom prst="rect">
            <a:avLst/>
          </a:prstGeom>
          <a:solidFill>
            <a:srgbClr val="071A1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833872" y="3337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retention — workflow depth = switching cost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182880" y="4142232"/>
            <a:ext cx="2286000" cy="786384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343400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58368" y="4288536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Motion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2560320" y="4142232"/>
            <a:ext cx="3017520" cy="786384"/>
          </a:xfrm>
          <a:prstGeom prst="rect">
            <a:avLst/>
          </a:prstGeom>
          <a:solidFill>
            <a:srgbClr val="1A0A0A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706624" y="42153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 demo-by-demo acquisition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5687568" y="4142232"/>
            <a:ext cx="3246120" cy="786384"/>
          </a:xfrm>
          <a:prstGeom prst="rect">
            <a:avLst/>
          </a:prstGeom>
          <a:solidFill>
            <a:srgbClr val="071A1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833872" y="4215384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subscription — Head of Legal, CCO, procurement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SECTION 06  ·  PHASED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" y="32918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18–27 weeks from greenlight to first B2B pilot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160934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24128"/>
            <a:ext cx="1609344" cy="82296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0424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" y="135331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Alignment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1243584" cy="27432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0195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" y="2304288"/>
            <a:ext cx="109728" cy="109728"/>
          </a:xfrm>
          <a:prstGeom prst="ellipse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49424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alignment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0896" y="2779776"/>
            <a:ext cx="109728" cy="109728"/>
          </a:xfrm>
          <a:prstGeom prst="ellipse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7249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definition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0896" y="3255264"/>
            <a:ext cx="109728" cy="109728"/>
          </a:xfrm>
          <a:prstGeom prst="ellipse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0040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readiness audit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0896" y="3730752"/>
            <a:ext cx="109728" cy="109728"/>
          </a:xfrm>
          <a:prstGeom prst="ellipse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67588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92224" y="128016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938528" y="1024128"/>
            <a:ext cx="160934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938528" y="1024128"/>
            <a:ext cx="1609344" cy="82296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38528" y="10424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993392" y="135331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21408" y="1901952"/>
            <a:ext cx="1243584" cy="27432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21408" y="190195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66544" y="2304288"/>
            <a:ext cx="109728" cy="109728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31136" y="2249424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schema lock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66544" y="2779776"/>
            <a:ext cx="109728" cy="109728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31136" y="27249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design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66544" y="3255264"/>
            <a:ext cx="109728" cy="109728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31136" y="320040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spec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66544" y="3730752"/>
            <a:ext cx="109728" cy="109728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31136" y="367588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Auth/tenant model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547872" y="128016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94176" y="1024128"/>
            <a:ext cx="160934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94176" y="1024128"/>
            <a:ext cx="1609344" cy="82296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94176" y="10424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749040" y="135331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77056" y="1901952"/>
            <a:ext cx="1243584" cy="27432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190195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wks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22192" y="2304288"/>
            <a:ext cx="109728" cy="109728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86784" y="2249424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822192" y="2779776"/>
            <a:ext cx="109728" cy="109728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86784" y="27249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connectors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822192" y="3255264"/>
            <a:ext cx="109728" cy="109728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86784" y="320040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dashboard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822192" y="3730752"/>
            <a:ext cx="109728" cy="109728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86784" y="367588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303520" y="128016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449824" y="1024128"/>
            <a:ext cx="160934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449824" y="1024128"/>
            <a:ext cx="1609344" cy="82296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49824" y="10424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504688" y="135331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632704" y="1901952"/>
            <a:ext cx="1243584" cy="27432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32704" y="190195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77840" y="2304288"/>
            <a:ext cx="109728" cy="109728"/>
          </a:xfrm>
          <a:prstGeom prst="ellipse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42432" y="2249424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577840" y="2779776"/>
            <a:ext cx="109728" cy="109728"/>
          </a:xfrm>
          <a:prstGeom prst="ellipse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42432" y="27249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577840" y="3255264"/>
            <a:ext cx="109728" cy="109728"/>
          </a:xfrm>
          <a:prstGeom prst="ellipse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42432" y="320040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console v1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577840" y="3730752"/>
            <a:ext cx="109728" cy="109728"/>
          </a:xfrm>
          <a:prstGeom prst="ellipse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42432" y="367588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baseline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059168" y="128016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205472" y="1024128"/>
            <a:ext cx="160934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7205472" y="1024128"/>
            <a:ext cx="1609344" cy="8229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05472" y="10424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7260336" y="135331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388352" y="1901952"/>
            <a:ext cx="1243584" cy="27432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88352" y="190195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wks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333488" y="2304288"/>
            <a:ext cx="109728" cy="10972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98080" y="2249424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333488" y="2779776"/>
            <a:ext cx="109728" cy="10972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98080" y="27249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333488" y="3255264"/>
            <a:ext cx="109728" cy="10972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98080" y="320040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analytics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333488" y="3730752"/>
            <a:ext cx="109728" cy="10972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98080" y="367588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182880" y="4846320"/>
            <a:ext cx="8778240" cy="201168"/>
          </a:xfrm>
          <a:prstGeom prst="rect">
            <a:avLst/>
          </a:prstGeom>
          <a:solidFill>
            <a:srgbClr val="E8F7F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18–27 weeks from greenlight to first B2B pilot conversation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4630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THE ASK  ·  FOUR DECISIONS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3657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rebuild. Four specific greenlight decisions.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56032" y="1133856"/>
            <a:ext cx="4133088" cy="169164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33856"/>
            <a:ext cx="4133088" cy="54864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61872"/>
            <a:ext cx="384048" cy="384048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298448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43584" y="128016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Alignment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1755648"/>
            <a:ext cx="3931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platform direction — Esheria as a programmable legal workflow OS — is the right strategic bet for this growth phase.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90288" y="1133856"/>
            <a:ext cx="4133088" cy="169164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0288" y="1133856"/>
            <a:ext cx="4133088" cy="54864"/>
          </a:xfrm>
          <a:prstGeom prst="rect">
            <a:avLst/>
          </a:prstGeom>
          <a:solidFill>
            <a:srgbClr val="4F7EF7"/>
          </a:solidFill>
          <a:ln w="12700">
            <a:solidFill>
              <a:srgbClr val="4F7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0016" y="1261872"/>
            <a:ext cx="384048" cy="384048"/>
          </a:xfrm>
          <a:prstGeom prst="rect">
            <a:avLst/>
          </a:prstGeom>
          <a:solidFill>
            <a:srgbClr val="4F7EF7"/>
          </a:solidFill>
          <a:ln w="12700">
            <a:solidFill>
              <a:srgbClr val="4F7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0016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29844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77840" y="128016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Greenlight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700016" y="1755648"/>
            <a:ext cx="3931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0 through Phase 2: validation, design, and MVP build culminating in a live Contract Intake &amp; Review demo.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56032" y="2999232"/>
            <a:ext cx="4133088" cy="169164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2999232"/>
            <a:ext cx="4133088" cy="54864"/>
          </a:xfrm>
          <a:prstGeom prst="rect">
            <a:avLst/>
          </a:prstGeom>
          <a:solidFill>
            <a:srgbClr val="9B6EF5"/>
          </a:solidFill>
          <a:ln w="12700">
            <a:solidFill>
              <a:srgbClr val="9B6EF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65760" y="3127248"/>
            <a:ext cx="384048" cy="384048"/>
          </a:xfrm>
          <a:prstGeom prst="rect">
            <a:avLst/>
          </a:prstGeom>
          <a:solidFill>
            <a:srgbClr val="9B6EF5"/>
          </a:solidFill>
          <a:ln w="12700">
            <a:solidFill>
              <a:srgbClr val="9B6EF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576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163824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43584" y="3145536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Ownership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65760" y="3621024"/>
            <a:ext cx="3931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platform lead to coordinate across existing repo owners. Without this single point of ownership, the orchestration layer will stall.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590288" y="2999232"/>
            <a:ext cx="4133088" cy="169164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590288" y="2999232"/>
            <a:ext cx="4133088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700016" y="3127248"/>
            <a:ext cx="384048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00016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3163824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77840" y="3145536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Target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4700016" y="3621024"/>
            <a:ext cx="3931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B2B customer type or named prospect as the north star for MVP and B2B packaging phases.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" y="274320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4752" y="274320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29968" y="274320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15184" y="274320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59536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859536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859536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9968" y="859536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859536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44752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1444752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44752" y="1444752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9968" y="1444752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15184" y="1444752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029968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2029968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44752" y="2029968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29968" y="2029968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15184" y="2029968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615184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" y="2615184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4752" y="2615184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29968" y="2615184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15184" y="2615184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200400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" y="3200400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44752" y="3200400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29968" y="3200400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15184" y="3200400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85616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9536" y="3785616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44752" y="3785616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9968" y="3785616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15184" y="3785616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370832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9536" y="4370832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44752" y="4370832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9968" y="4370832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15184" y="4370832"/>
            <a:ext cx="73152" cy="73152"/>
          </a:xfrm>
          <a:prstGeom prst="ellipse">
            <a:avLst/>
          </a:prstGeom>
          <a:solidFill>
            <a:srgbClr val="007A61"/>
          </a:solidFill>
          <a:ln w="12700">
            <a:solidFill>
              <a:srgbClr val="007A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1280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ESHERIA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274320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5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WORKFLOW OS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2743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274320" y="3246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335024" y="2743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1335024" y="3246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95728" y="2743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18+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2395728" y="3246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6400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not asking to rebuild Esheria.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3749040" y="1298448"/>
            <a:ext cx="1371600" cy="36576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49040" y="14447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asking for permission to prove that what Esheria has already built can operate as one coherent system —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749040" y="233172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that this coherence creates the enterprise story that drives the next phase of growth.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749040" y="32461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NEEDED: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749040" y="3520440"/>
            <a:ext cx="1280160" cy="475488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040" y="3520440"/>
            <a:ext cx="1280160" cy="36576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22192" y="3566160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Strategic Alignment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120640" y="3520440"/>
            <a:ext cx="1280160" cy="475488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20640" y="3520440"/>
            <a:ext cx="1280160" cy="36576"/>
          </a:xfrm>
          <a:prstGeom prst="rect">
            <a:avLst/>
          </a:prstGeom>
          <a:solidFill>
            <a:srgbClr val="4F7EF7"/>
          </a:solidFill>
          <a:ln w="12700">
            <a:solidFill>
              <a:srgbClr val="4F7E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93792" y="3566160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MVP Greenlight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3520440"/>
            <a:ext cx="1280160" cy="475488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92240" y="3520440"/>
            <a:ext cx="1280160" cy="36576"/>
          </a:xfrm>
          <a:prstGeom prst="rect">
            <a:avLst/>
          </a:prstGeom>
          <a:solidFill>
            <a:srgbClr val="9B6EF5"/>
          </a:solidFill>
          <a:ln w="12700">
            <a:solidFill>
              <a:srgbClr val="9B6E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65392" y="3566160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Platform Ownership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863840" y="3520440"/>
            <a:ext cx="1280160" cy="475488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63840" y="3520440"/>
            <a:ext cx="128016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36992" y="3566160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Pilot Target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474720" y="4370832"/>
            <a:ext cx="5669280" cy="772668"/>
          </a:xfrm>
          <a:prstGeom prst="rect">
            <a:avLst/>
          </a:prstGeom>
          <a:solidFill>
            <a:srgbClr val="07090F"/>
          </a:solidFill>
          <a:ln w="12700">
            <a:solidFill>
              <a:srgbClr val="07090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0" y="44805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Vincent Nyamao  ·  CLASSIFICATION  CONFIDENTIAL  ·  CEO Review Copy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749040" y="47548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Package: Executive Proposal  ·  Technical Blueprint  ·  Diagram Pack  ·  Design Appendix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Esheria Legal Workflow OS — Executive Deck</dc:title>
  <dc:subject>CEO Strategic Review</dc:subject>
  <dc:creator>Vincent Nyamao</dc:creator>
  <cp:lastModifiedBy>Vincent Nyamao</cp:lastModifiedBy>
  <cp:revision>1</cp:revision>
  <dcterms:created xsi:type="dcterms:W3CDTF">2026-03-08T18:22:02Z</dcterms:created>
  <dcterms:modified xsi:type="dcterms:W3CDTF">2026-03-08T18:22:02Z</dcterms:modified>
</cp:coreProperties>
</file>